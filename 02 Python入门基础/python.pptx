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notesMasterIdLst>
    <p:notesMasterId r:id="rId5"/>
  </p:notesMasterIdLst>
  <p:sldIdLst>
    <p:sldId id="11089017" r:id="rId4"/>
    <p:sldId id="11089132" r:id="rId6"/>
    <p:sldId id="11089133" r:id="rId7"/>
    <p:sldId id="11089135" r:id="rId8"/>
    <p:sldId id="11089139" r:id="rId9"/>
    <p:sldId id="11089138" r:id="rId10"/>
    <p:sldId id="11089032" r:id="rId1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B38B6F7C-85CE-48BF-A111-1A7C8BAECE3A}">
          <p14:sldIdLst>
            <p14:sldId id="11089017"/>
            <p14:sldId id="11089132"/>
            <p14:sldId id="11089133"/>
            <p14:sldId id="11089135"/>
            <p14:sldId id="11089139"/>
            <p14:sldId id="11089138"/>
            <p14:sldId id="1108903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ACD2"/>
    <a:srgbClr val="FFFFFF"/>
    <a:srgbClr val="4081D0"/>
    <a:srgbClr val="F5E4D0"/>
    <a:srgbClr val="97D2FF"/>
    <a:srgbClr val="00D9D1"/>
    <a:srgbClr val="61CDE5"/>
    <a:srgbClr val="FFC000"/>
    <a:srgbClr val="6498D9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278" autoAdjust="0"/>
    <p:restoredTop sz="95256" autoAdjust="0"/>
  </p:normalViewPr>
  <p:slideViewPr>
    <p:cSldViewPr snapToGrid="0" showGuides="1">
      <p:cViewPr varScale="1">
        <p:scale>
          <a:sx n="99" d="100"/>
          <a:sy n="99" d="100"/>
        </p:scale>
        <p:origin x="57" y="11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75" d="100"/>
        <a:sy n="75" d="100"/>
      </p:scale>
      <p:origin x="0" y="-64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B23A937-D29C-4AE2-BDCC-59120BD73784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1F1605-4749-4CB4-B768-DD108B6F2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1F1605-4749-4CB4-B768-DD108B6F2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768C38-8F39-4BC1-8547-3297BF5DEA09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                             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81AEB-07EC-42BD-BA3B-0262F1DD417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5B4C5C-453F-4DE2-85CE-2EF8895D5E9A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                             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81AEB-07EC-42BD-BA3B-0262F1DD417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57356-407B-4E69-86CC-9B80CFC3B701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                             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81AEB-07EC-42BD-BA3B-0262F1DD417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04ECB1-5BE6-4CFC-90E0-850532F50E4A}" type="datetime1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                             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81AEB-07EC-42BD-BA3B-0262F1DD417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BEA1FA-2108-43AB-92BD-C89BCC92189F}" type="datetime1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                             </a:t>
            </a:r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81AEB-07EC-42BD-BA3B-0262F1DD417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8E1F2-4F18-4259-AAE8-F273C98DC6F7}" type="datetime1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                             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81AEB-07EC-42BD-BA3B-0262F1DD417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71B9E6-04C3-4098-AF2F-C193962BE2A6}" type="datetime1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                             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81AEB-07EC-42BD-BA3B-0262F1DD417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8914A1-1088-4CBA-844C-0D17D8671CCC}" type="datetime1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                             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81AEB-07EC-42BD-BA3B-0262F1DD417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DD3992-80EE-4E2C-8DA8-E69BB0F178A0}" type="datetime1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                             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81AEB-07EC-42BD-BA3B-0262F1DD417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4D4FA7-AE85-4284-BEA2-2B83DA5BE6F3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                             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81AEB-07EC-42BD-BA3B-0262F1DD417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727452-7A0C-4EA7-AC84-D2C91A147A13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                             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81AEB-07EC-42BD-BA3B-0262F1DD417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9304E0-4029-4432-99D1-493017E15F0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DC312-E732-4E35-ACC6-8833826DABAE}" type="slidenum">
              <a:rPr lang="zh-CN" altLang="en-US" smtClean="0"/>
            </a:fld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9304E0-4029-4432-99D1-493017E15F0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DC312-E732-4E35-ACC6-8833826DABA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9304E0-4029-4432-99D1-493017E15F0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DC312-E732-4E35-ACC6-8833826DABA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9304E0-4029-4432-99D1-493017E15F03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DC312-E732-4E35-ACC6-8833826DABA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9304E0-4029-4432-99D1-493017E15F03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DC312-E732-4E35-ACC6-8833826DABA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9304E0-4029-4432-99D1-493017E15F03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DC312-E732-4E35-ACC6-8833826DABA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9304E0-4029-4432-99D1-493017E15F03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DC312-E732-4E35-ACC6-8833826DABA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9304E0-4029-4432-99D1-493017E15F03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DC312-E732-4E35-ACC6-8833826DABA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9304E0-4029-4432-99D1-493017E15F03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DC312-E732-4E35-ACC6-8833826DABA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9304E0-4029-4432-99D1-493017E15F0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DC312-E732-4E35-ACC6-8833826DABA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9304E0-4029-4432-99D1-493017E15F0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DC312-E732-4E35-ACC6-8833826DABAE}" type="slidenum">
              <a:rPr lang="zh-CN" altLang="en-US" smtClean="0"/>
            </a:fld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BDB6E6-9C98-422F-8C74-A435A7746E8F}" type="datetimeFigureOut">
              <a:rPr lang="en-US" smtClean="0"/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1781FC-1C5C-414D-94E6-115995C1EE3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5B4C5C-453F-4DE2-85CE-2EF8895D5E9A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                             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81AEB-07EC-42BD-BA3B-0262F1DD417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5" Type="http://schemas.openxmlformats.org/officeDocument/2006/relationships/theme" Target="../theme/theme2.xml"/><Relationship Id="rId14" Type="http://schemas.openxmlformats.org/officeDocument/2006/relationships/image" Target="../media/image3.png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B7A22B-378E-47BC-8F39-91368CCFD85B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zh-CN" altLang="en-US"/>
              <a:t>                             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281AEB-07EC-42BD-BA3B-0262F1DD417E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9304E0-4029-4432-99D1-493017E15F0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4DC312-E732-4E35-ACC6-8833826DABAE}" type="slidenum">
              <a:rPr lang="zh-CN" altLang="en-US" smtClean="0"/>
            </a:fld>
            <a:endParaRPr lang="zh-CN" altLang="en-US"/>
          </a:p>
        </p:txBody>
      </p:sp>
      <p:sp>
        <p:nvSpPr>
          <p:cNvPr id="7" name="矩形 6"/>
          <p:cNvSpPr/>
          <p:nvPr userDrawn="1"/>
        </p:nvSpPr>
        <p:spPr>
          <a:xfrm>
            <a:off x="305" y="193675"/>
            <a:ext cx="5327915" cy="501650"/>
          </a:xfrm>
          <a:prstGeom prst="rect">
            <a:avLst/>
          </a:prstGeom>
          <a:solidFill>
            <a:srgbClr val="00ACD2"/>
          </a:solidFill>
          <a:ln>
            <a:solidFill>
              <a:srgbClr val="00ACD2"/>
            </a:solidFill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hangingPunct="1"/>
            <a:endParaRPr lang="zh-CN" altLang="en-US" sz="2665" b="1" kern="1200" dirty="0">
              <a:ln>
                <a:noFill/>
              </a:ln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pic>
        <p:nvPicPr>
          <p:cNvPr id="8" name="图片 7" descr="研究院logo-2021_画板 1"/>
          <p:cNvPicPr>
            <a:picLocks noChangeAspect="1"/>
          </p:cNvPicPr>
          <p:nvPr userDrawn="1"/>
        </p:nvPicPr>
        <p:blipFill>
          <a:blip r:embed="rId14"/>
          <a:srcRect l="18141" t="35065" r="16401" b="37065"/>
          <a:stretch>
            <a:fillRect/>
          </a:stretch>
        </p:blipFill>
        <p:spPr>
          <a:xfrm>
            <a:off x="10031730" y="265430"/>
            <a:ext cx="1791970" cy="42989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8.png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4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0" y="2464971"/>
            <a:ext cx="12192000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US" sz="4200" b="1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  <a:cs typeface="Times New Roman Regular" panose="02020603050405020304" charset="0"/>
              </a:rPr>
              <a:t>Python</a:t>
            </a:r>
            <a:r>
              <a:rPr lang="zh-CN" altLang="en-US" sz="4200" b="1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  <a:cs typeface="Times New Roman Regular" panose="02020603050405020304" charset="0"/>
              </a:rPr>
              <a:t>发展及应该如何</a:t>
            </a:r>
            <a:r>
              <a:rPr lang="zh-CN" altLang="en-US" sz="4200" b="1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  <a:cs typeface="Times New Roman Regular" panose="02020603050405020304" charset="0"/>
              </a:rPr>
              <a:t>学习</a:t>
            </a:r>
            <a:endParaRPr lang="zh-CN" altLang="en-US" sz="4200" b="1" dirty="0">
              <a:solidFill>
                <a:prstClr val="white"/>
              </a:solidFill>
              <a:latin typeface="微软雅黑" panose="020B0503020204020204" charset="-122"/>
              <a:ea typeface="微软雅黑" panose="020B0503020204020204" charset="-122"/>
              <a:cs typeface="Times New Roman Regular" panose="0202060305040502030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灯片编号占位符 3"/>
          <p:cNvSpPr txBox="1"/>
          <p:nvPr/>
        </p:nvSpPr>
        <p:spPr>
          <a:xfrm>
            <a:off x="9016995" y="635635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A281AEB-07EC-42BD-BA3B-0262F1DD417E}" type="slidenum">
              <a:rPr lang="zh-CN" altLang="en-US" smtClean="0"/>
            </a:fld>
            <a:endParaRPr lang="zh-CN" altLang="en-US" dirty="0"/>
          </a:p>
        </p:txBody>
      </p:sp>
      <p:sp>
        <p:nvSpPr>
          <p:cNvPr id="2" name="文本框 1"/>
          <p:cNvSpPr txBox="1"/>
          <p:nvPr/>
        </p:nvSpPr>
        <p:spPr>
          <a:xfrm>
            <a:off x="414020" y="900430"/>
            <a:ext cx="6510020" cy="37973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>
              <a:lnSpc>
                <a:spcPts val="2250"/>
              </a:lnSpc>
              <a:spcBef>
                <a:spcPts val="2400"/>
              </a:spcBef>
              <a:spcAft>
                <a:spcPts val="1200"/>
              </a:spcAft>
            </a:pPr>
            <a:r>
              <a:rPr lang="zh-CN" altLang="en-US" sz="2000" b="1">
                <a:solidFill>
                  <a:srgbClr val="0F1115"/>
                </a:solidFill>
                <a:latin typeface="quote-cjk-patch"/>
                <a:ea typeface="quote-cjk-patch"/>
              </a:rPr>
              <a:t>一、 </a:t>
            </a:r>
            <a:r>
              <a:rPr lang="en-US" altLang="zh-CN" sz="2000" b="1">
                <a:solidFill>
                  <a:srgbClr val="0F1115"/>
                </a:solidFill>
                <a:latin typeface="quote-cjk-patch"/>
                <a:ea typeface="quote-cjk-patch"/>
              </a:rPr>
              <a:t>Python</a:t>
            </a:r>
            <a:r>
              <a:rPr lang="zh-CN" altLang="en-US" sz="2000" b="1">
                <a:solidFill>
                  <a:srgbClr val="0F1115"/>
                </a:solidFill>
                <a:latin typeface="quote-cjk-patch"/>
                <a:ea typeface="quote-cjk-patch"/>
              </a:rPr>
              <a:t>的发展历程：</a:t>
            </a:r>
            <a:endParaRPr lang="zh-CN" altLang="en-US" sz="2000" b="1">
              <a:solidFill>
                <a:srgbClr val="0F1115"/>
              </a:solidFill>
              <a:latin typeface="quote-cjk-patch"/>
              <a:ea typeface="quote-cjk-patch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560830" y="1950720"/>
            <a:ext cx="8460105" cy="4547235"/>
          </a:xfrm>
          <a:prstGeom prst="rect">
            <a:avLst/>
          </a:prstGeom>
        </p:spPr>
        <p:txBody>
          <a:bodyPr wrap="square">
            <a:noAutofit/>
          </a:bodyPr>
          <a:p>
            <a:pPr marL="0" indent="457200" fontAlgn="auto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/>
              <a:buChar char="•"/>
            </a:pPr>
            <a:r>
              <a:rPr lang="en-US" altLang="zh-CN" sz="1600" b="1" i="0">
                <a:solidFill>
                  <a:srgbClr val="0F111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1991</a:t>
            </a:r>
            <a:r>
              <a:rPr lang="zh-CN" altLang="en-US" sz="1600" b="1" i="0">
                <a:solidFill>
                  <a:srgbClr val="0F111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年首次发布</a:t>
            </a:r>
            <a:r>
              <a:rPr lang="zh-CN" altLang="en-US" sz="1600" i="0">
                <a:solidFill>
                  <a:srgbClr val="0F111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：</a:t>
            </a:r>
            <a:r>
              <a:rPr lang="en-US" altLang="zh-CN" sz="1600" i="0">
                <a:solidFill>
                  <a:srgbClr val="0F111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Python 0.9.0</a:t>
            </a:r>
            <a:r>
              <a:rPr lang="zh-CN" altLang="en-US" sz="1600" i="0">
                <a:solidFill>
                  <a:srgbClr val="0F111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正式诞生。它的名字来源于吉多喜爱的英国喜剧团体“</a:t>
            </a:r>
            <a:r>
              <a:rPr lang="en-US" altLang="zh-CN" sz="1600" i="0">
                <a:solidFill>
                  <a:srgbClr val="0F111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Monty Python”</a:t>
            </a:r>
            <a:r>
              <a:rPr lang="zh-CN" altLang="en-US" sz="1600" i="0">
                <a:solidFill>
                  <a:srgbClr val="0F111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（巨蟒剧团），而不是蟒蛇。</a:t>
            </a:r>
            <a:endParaRPr lang="zh-CN" altLang="en-US" sz="1600" i="0">
              <a:solidFill>
                <a:srgbClr val="0F1115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457200" fontAlgn="auto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/>
              <a:buChar char="•"/>
            </a:pPr>
            <a:r>
              <a:rPr lang="zh-CN" altLang="en-US" sz="1600" b="1" i="0">
                <a:solidFill>
                  <a:srgbClr val="0F111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设计哲学</a:t>
            </a:r>
            <a:r>
              <a:rPr lang="zh-CN" altLang="en-US" sz="1600" i="0">
                <a:solidFill>
                  <a:srgbClr val="0F111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：</a:t>
            </a:r>
            <a:r>
              <a:rPr lang="en-US" altLang="zh-CN" sz="1600" i="0">
                <a:solidFill>
                  <a:srgbClr val="0F111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Python</a:t>
            </a:r>
            <a:r>
              <a:rPr lang="zh-CN" altLang="en-US" sz="1600" i="0">
                <a:solidFill>
                  <a:srgbClr val="0F111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从诞生之初就秉持着“优雅”、“明确”、“简单”的设计理念。</a:t>
            </a:r>
            <a:endParaRPr lang="zh-CN" altLang="en-US" sz="1600" i="0">
              <a:solidFill>
                <a:srgbClr val="0F1115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457200" fontAlgn="auto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/>
              <a:buChar char="•"/>
            </a:pPr>
            <a:r>
              <a:rPr lang="zh-CN" altLang="en-US" sz="1600" b="1" i="0">
                <a:solidFill>
                  <a:srgbClr val="0F111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关键版本</a:t>
            </a:r>
            <a:r>
              <a:rPr lang="zh-CN" altLang="en-US" sz="1600" i="0">
                <a:solidFill>
                  <a:srgbClr val="0F111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：</a:t>
            </a:r>
            <a:r>
              <a:rPr lang="en-US" altLang="zh-CN" sz="1600" i="0">
                <a:solidFill>
                  <a:srgbClr val="0F111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Python 3.0</a:t>
            </a:r>
            <a:r>
              <a:rPr lang="zh-CN" altLang="en-US" sz="1600" i="0">
                <a:solidFill>
                  <a:srgbClr val="0F111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</a:t>
            </a:r>
            <a:r>
              <a:rPr lang="en-US" altLang="zh-CN" sz="1600" i="0">
                <a:solidFill>
                  <a:srgbClr val="0F111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2008</a:t>
            </a:r>
            <a:r>
              <a:rPr lang="zh-CN" altLang="en-US" sz="1600" i="0">
                <a:solidFill>
                  <a:srgbClr val="0F111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年）：这是一个不向后兼容的重大更新，解决了一些早期设计缺陷。现在学习和使用的都是</a:t>
            </a:r>
            <a:r>
              <a:rPr lang="en-US" altLang="zh-CN" sz="1600" i="0">
                <a:solidFill>
                  <a:srgbClr val="0F111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Python 3</a:t>
            </a:r>
            <a:r>
              <a:rPr lang="zh-CN" altLang="en-US" sz="1600" i="0">
                <a:solidFill>
                  <a:srgbClr val="0F111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系列。</a:t>
            </a:r>
            <a:endParaRPr lang="zh-CN" altLang="en-US" sz="1600" i="0">
              <a:solidFill>
                <a:srgbClr val="0F1115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457200" fontAlgn="auto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/>
              <a:buChar char="•"/>
            </a:pPr>
            <a:r>
              <a:rPr lang="zh-CN" altLang="en-US" sz="1600" b="1" i="0">
                <a:solidFill>
                  <a:srgbClr val="0F111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现状</a:t>
            </a:r>
            <a:r>
              <a:rPr lang="zh-CN" altLang="en-US" sz="1600" i="0">
                <a:solidFill>
                  <a:srgbClr val="0F111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：如今，</a:t>
            </a:r>
            <a:r>
              <a:rPr lang="en-US" altLang="zh-CN" sz="1600" i="0">
                <a:solidFill>
                  <a:srgbClr val="0F111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Python</a:t>
            </a:r>
            <a:r>
              <a:rPr lang="zh-CN" altLang="en-US" sz="1600" i="0">
                <a:solidFill>
                  <a:srgbClr val="0F111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已经从一个“业余项目”成长为驱动</a:t>
            </a:r>
            <a:r>
              <a:rPr lang="en-US" altLang="zh-CN" sz="1600" i="0">
                <a:solidFill>
                  <a:srgbClr val="0F111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Google</a:t>
            </a:r>
            <a:r>
              <a:rPr lang="zh-CN" altLang="en-US" sz="1600" i="0">
                <a:solidFill>
                  <a:srgbClr val="0F111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、</a:t>
            </a:r>
            <a:r>
              <a:rPr lang="en-US" altLang="zh-CN" sz="1600" i="0">
                <a:solidFill>
                  <a:srgbClr val="0F111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YouTube</a:t>
            </a:r>
            <a:r>
              <a:rPr lang="zh-CN" altLang="en-US" sz="1600" i="0">
                <a:solidFill>
                  <a:srgbClr val="0F111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、</a:t>
            </a:r>
            <a:r>
              <a:rPr lang="en-US" altLang="zh-CN" sz="1600" i="0">
                <a:solidFill>
                  <a:srgbClr val="0F111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Netflix</a:t>
            </a:r>
            <a:r>
              <a:rPr lang="zh-CN" altLang="en-US" sz="1600" i="0">
                <a:solidFill>
                  <a:srgbClr val="0F111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等巨头公司的核心技术，并且在科学计算、数据分析、人工智能和</a:t>
            </a:r>
            <a:r>
              <a:rPr lang="en-US" altLang="zh-CN" sz="1600" i="0">
                <a:solidFill>
                  <a:srgbClr val="0F111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Web</a:t>
            </a:r>
            <a:r>
              <a:rPr lang="zh-CN" altLang="en-US" sz="1600" i="0">
                <a:solidFill>
                  <a:srgbClr val="0F111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开发等领域占据主导地位。</a:t>
            </a:r>
            <a:endParaRPr lang="zh-CN" altLang="en-US" sz="1600" i="0">
              <a:solidFill>
                <a:srgbClr val="0F1115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灯片编号占位符 3"/>
          <p:cNvSpPr txBox="1"/>
          <p:nvPr/>
        </p:nvSpPr>
        <p:spPr>
          <a:xfrm>
            <a:off x="9016995" y="635635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A281AEB-07EC-42BD-BA3B-0262F1DD417E}" type="slidenum">
              <a:rPr lang="zh-CN" altLang="en-US" smtClean="0"/>
            </a:fld>
            <a:endParaRPr lang="zh-CN" altLang="en-US" dirty="0"/>
          </a:p>
        </p:txBody>
      </p:sp>
      <p:sp>
        <p:nvSpPr>
          <p:cNvPr id="2" name="文本框 1"/>
          <p:cNvSpPr txBox="1"/>
          <p:nvPr/>
        </p:nvSpPr>
        <p:spPr>
          <a:xfrm>
            <a:off x="989330" y="1309370"/>
            <a:ext cx="8107680" cy="8110855"/>
          </a:xfrm>
          <a:prstGeom prst="rect">
            <a:avLst/>
          </a:prstGeom>
        </p:spPr>
        <p:txBody>
          <a:bodyPr wrap="square">
            <a:noAutofit/>
          </a:bodyPr>
          <a:p>
            <a:pPr marL="0" indent="457200" fontAlgn="auto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AutoNum type="arabicPeriod"/>
            </a:pPr>
            <a:r>
              <a:rPr lang="en-US" altLang="zh-CN" sz="1600" b="1" i="0">
                <a:solidFill>
                  <a:srgbClr val="0F1115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语法简单，易于学习</a:t>
            </a:r>
            <a:endParaRPr lang="en-US" altLang="zh-CN" sz="1600" b="1" i="0">
              <a:solidFill>
                <a:srgbClr val="0F1115"/>
              </a:solidFill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marL="0" lvl="1" indent="457200" algn="l" fontAlgn="auto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/>
              <a:buNone/>
            </a:pPr>
            <a:r>
              <a:rPr lang="en-US" altLang="zh-CN" sz="1400" i="0">
                <a:solidFill>
                  <a:srgbClr val="0F1115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C++: #include &lt;iostream&gt; int main() { std::cout &lt;&lt; "Hello, World!"; return 0; }</a:t>
            </a:r>
            <a:endParaRPr lang="en-US" altLang="zh-CN" sz="1400" i="0">
              <a:solidFill>
                <a:srgbClr val="0F1115"/>
              </a:solidFill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marL="0" lvl="1" indent="457200" algn="l" fontAlgn="auto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/>
              <a:buNone/>
            </a:pPr>
            <a:r>
              <a:rPr lang="en-US" altLang="zh-CN" sz="1400" i="0">
                <a:solidFill>
                  <a:srgbClr val="0F1115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Python: print("Hello, World!")</a:t>
            </a:r>
            <a:endParaRPr lang="en-US" altLang="zh-CN" sz="1400" i="0">
              <a:solidFill>
                <a:srgbClr val="0F1115"/>
              </a:solidFill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marL="0" indent="457200" fontAlgn="auto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AutoNum type="arabicPeriod"/>
            </a:pPr>
            <a:r>
              <a:rPr lang="en-US" altLang="zh-CN" sz="1600" b="1" i="0">
                <a:solidFill>
                  <a:srgbClr val="0F1115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“功能强大”的秘诀：丰富的第三方库</a:t>
            </a:r>
            <a:endParaRPr lang="en-US" altLang="zh-CN" sz="1600" b="1" i="0">
              <a:solidFill>
                <a:srgbClr val="0F1115"/>
              </a:solidFill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marL="0" lvl="1" indent="457200" fontAlgn="auto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/>
              <a:buNone/>
            </a:pPr>
            <a:r>
              <a:rPr lang="en-US" altLang="zh-CN" sz="1400" i="0">
                <a:solidFill>
                  <a:srgbClr val="0F1115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数据处理：pandas（数据分析神器），NumPy（科学计算基础）</a:t>
            </a:r>
            <a:endParaRPr lang="en-US" altLang="zh-CN" sz="1400" i="0">
              <a:solidFill>
                <a:srgbClr val="0F1115"/>
              </a:solidFill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marL="0" lvl="1" indent="457200" fontAlgn="auto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/>
              <a:buNone/>
            </a:pPr>
            <a:r>
              <a:rPr lang="en-US" altLang="zh-CN" sz="1400" i="0">
                <a:solidFill>
                  <a:srgbClr val="0F1115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数据可视化：Matplotlib, Seaborn（绘制各种统计图表）</a:t>
            </a:r>
            <a:endParaRPr lang="en-US" altLang="zh-CN" sz="1400" i="0">
              <a:solidFill>
                <a:srgbClr val="0F1115"/>
              </a:solidFill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marL="0" lvl="1" indent="457200" fontAlgn="auto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/>
              <a:buNone/>
            </a:pPr>
            <a:r>
              <a:rPr lang="en-US" altLang="zh-CN" sz="1400" i="0">
                <a:solidFill>
                  <a:srgbClr val="0F1115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生物信息学：Biopython，Scanpy（必备工具集）</a:t>
            </a:r>
            <a:endParaRPr lang="en-US" altLang="zh-CN" sz="1400" i="0">
              <a:solidFill>
                <a:srgbClr val="0F1115"/>
              </a:solidFill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marL="0" lvl="1" indent="457200" fontAlgn="auto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/>
              <a:buNone/>
            </a:pPr>
            <a:r>
              <a:rPr lang="en-US" altLang="zh-CN" sz="1400" i="0">
                <a:solidFill>
                  <a:srgbClr val="0F1115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机器学习/AI：scikit-learn, TensorFlow, PyTorch</a:t>
            </a:r>
            <a:endParaRPr lang="en-US" altLang="zh-CN" sz="1400" i="0">
              <a:solidFill>
                <a:srgbClr val="0F1115"/>
              </a:solidFill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marL="0" indent="457200" fontAlgn="auto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AutoNum type="arabicPeriod"/>
            </a:pPr>
            <a:r>
              <a:rPr lang="en-US" altLang="zh-CN" sz="1600" b="1" i="0">
                <a:solidFill>
                  <a:srgbClr val="0F1115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跨平台兼容</a:t>
            </a:r>
            <a:r>
              <a:rPr lang="zh-CN" altLang="en-US" sz="1600" b="1" i="0">
                <a:solidFill>
                  <a:srgbClr val="0F1115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：</a:t>
            </a:r>
            <a:r>
              <a:rPr lang="en-US" altLang="zh-CN" sz="1600" b="1" i="0">
                <a:solidFill>
                  <a:srgbClr val="0F1115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Python</a:t>
            </a:r>
            <a:r>
              <a:rPr lang="zh-CN" altLang="en-US" sz="1600" b="1" i="0">
                <a:solidFill>
                  <a:srgbClr val="0F1115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代码可以在</a:t>
            </a:r>
            <a:r>
              <a:rPr lang="en-US" altLang="zh-CN" sz="1600" b="1" i="0">
                <a:solidFill>
                  <a:srgbClr val="0F1115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Windows</a:t>
            </a:r>
            <a:r>
              <a:rPr lang="zh-CN" altLang="en-US" sz="1600" b="1" i="0">
                <a:solidFill>
                  <a:srgbClr val="0F1115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、</a:t>
            </a:r>
            <a:r>
              <a:rPr lang="en-US" altLang="zh-CN" sz="1600" b="1" i="0">
                <a:solidFill>
                  <a:srgbClr val="0F1115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macOS</a:t>
            </a:r>
            <a:r>
              <a:rPr lang="zh-CN" altLang="en-US" sz="1600" b="1" i="0">
                <a:solidFill>
                  <a:srgbClr val="0F1115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和</a:t>
            </a:r>
            <a:r>
              <a:rPr lang="en-US" altLang="zh-CN" sz="1600" b="1" i="0">
                <a:solidFill>
                  <a:srgbClr val="0F1115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Linux</a:t>
            </a:r>
            <a:r>
              <a:rPr lang="zh-CN" altLang="en-US" sz="1600" b="1" i="0">
                <a:solidFill>
                  <a:srgbClr val="0F1115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系统上无缝运行</a:t>
            </a:r>
            <a:endParaRPr lang="zh-CN" altLang="en-US" sz="1600" b="1" i="0">
              <a:solidFill>
                <a:srgbClr val="0F1115"/>
              </a:solidFill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marL="0" indent="0" fontAlgn="auto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altLang="zh-CN" sz="1600" b="1" i="0">
                <a:solidFill>
                  <a:srgbClr val="0F1115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4. 开源和活跃的社区</a:t>
            </a:r>
            <a:endParaRPr lang="en-US" altLang="zh-CN" sz="1600" b="1" i="0">
              <a:solidFill>
                <a:srgbClr val="0F1115"/>
              </a:solidFill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marL="0" lvl="1" indent="457200" algn="l" fontAlgn="auto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/>
              <a:buNone/>
            </a:pPr>
            <a:r>
              <a:rPr lang="en-US" altLang="zh-CN" sz="1400" i="0">
                <a:solidFill>
                  <a:srgbClr val="0F1115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Python是完全免费的，拥有一个庞大而活跃的全球社区。无论你遇到什么问题，几乎都能在Stack Overflow等论坛上找到答案。</a:t>
            </a:r>
            <a:endParaRPr lang="en-US" altLang="zh-CN" sz="1400" i="0">
              <a:solidFill>
                <a:srgbClr val="0F1115"/>
              </a:solidFill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73380" y="843280"/>
            <a:ext cx="7825105" cy="3797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>
              <a:lnSpc>
                <a:spcPts val="2250"/>
              </a:lnSpc>
              <a:spcBef>
                <a:spcPts val="2400"/>
              </a:spcBef>
              <a:spcAft>
                <a:spcPts val="1200"/>
              </a:spcAft>
            </a:pPr>
            <a:r>
              <a:rPr lang="zh-CN" altLang="en-US" sz="2000" b="1">
                <a:solidFill>
                  <a:srgbClr val="0F1115"/>
                </a:solidFill>
                <a:latin typeface="quote-cjk-patch"/>
                <a:ea typeface="quote-cjk-patch"/>
                <a:sym typeface="+mn-ea"/>
              </a:rPr>
              <a:t>二、 </a:t>
            </a:r>
            <a:r>
              <a:rPr lang="en-US" altLang="zh-CN" sz="2000" b="1">
                <a:solidFill>
                  <a:srgbClr val="0F1115"/>
                </a:solidFill>
                <a:latin typeface="quote-cjk-patch"/>
                <a:ea typeface="quote-cjk-patch"/>
                <a:sym typeface="+mn-ea"/>
              </a:rPr>
              <a:t>Python</a:t>
            </a:r>
            <a:r>
              <a:rPr lang="zh-CN" altLang="en-US" sz="2000" b="1">
                <a:solidFill>
                  <a:srgbClr val="0F1115"/>
                </a:solidFill>
                <a:latin typeface="quote-cjk-patch"/>
                <a:ea typeface="quote-cjk-patch"/>
                <a:sym typeface="+mn-ea"/>
              </a:rPr>
              <a:t>的核心优势：为何它如此受欢迎？</a:t>
            </a:r>
            <a:endParaRPr lang="zh-CN" altLang="en-US" sz="2000" b="1">
              <a:solidFill>
                <a:srgbClr val="0F1115"/>
              </a:solidFill>
              <a:latin typeface="quote-cjk-patch"/>
              <a:ea typeface="quote-cjk-patch"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7899400" y="1704975"/>
            <a:ext cx="3165475" cy="30289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latinLnBrk="1">
              <a:lnSpc>
                <a:spcPts val="1650"/>
              </a:lnSpc>
              <a:spcBef>
                <a:spcPct val="0"/>
              </a:spcBef>
              <a:spcAft>
                <a:spcPct val="0"/>
              </a:spcAft>
            </a:pPr>
            <a:endParaRPr lang="en-US" altLang="zh-CN" sz="1600" b="0">
              <a:solidFill>
                <a:srgbClr val="383A42"/>
              </a:solidFill>
              <a:latin typeface="Menlo"/>
              <a:ea typeface="Menl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灯片编号占位符 3"/>
          <p:cNvSpPr txBox="1"/>
          <p:nvPr/>
        </p:nvSpPr>
        <p:spPr>
          <a:xfrm>
            <a:off x="9016995" y="635635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A281AEB-07EC-42BD-BA3B-0262F1DD417E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00505" y="853440"/>
            <a:ext cx="8699500" cy="5287645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3937000" y="6356033"/>
            <a:ext cx="5080000" cy="337185"/>
          </a:xfrm>
          <a:prstGeom prst="rect">
            <a:avLst/>
          </a:prstGeom>
        </p:spPr>
        <p:txBody>
          <a:bodyPr>
            <a:spAutoFit/>
          </a:bodyPr>
          <a:p>
            <a:r>
              <a:rPr lang="en-US" altLang="zh-CN" sz="1600"/>
              <a:t>https://www.tiobe.com/tiobe-index/</a:t>
            </a:r>
            <a:endParaRPr lang="en-US" altLang="zh-CN" sz="16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灯片编号占位符 3"/>
          <p:cNvSpPr txBox="1"/>
          <p:nvPr/>
        </p:nvSpPr>
        <p:spPr>
          <a:xfrm>
            <a:off x="9016995" y="635635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A281AEB-07EC-42BD-BA3B-0262F1DD417E}" type="slidenum">
              <a:rPr lang="zh-CN" altLang="en-US" smtClean="0"/>
            </a:fld>
            <a:endParaRPr lang="zh-CN" altLang="en-US" dirty="0"/>
          </a:p>
        </p:txBody>
      </p:sp>
      <p:sp>
        <p:nvSpPr>
          <p:cNvPr id="2" name="文本框 1"/>
          <p:cNvSpPr txBox="1"/>
          <p:nvPr/>
        </p:nvSpPr>
        <p:spPr>
          <a:xfrm>
            <a:off x="909320" y="1223010"/>
            <a:ext cx="9507220" cy="8110855"/>
          </a:xfrm>
          <a:prstGeom prst="rect">
            <a:avLst/>
          </a:prstGeom>
        </p:spPr>
        <p:txBody>
          <a:bodyPr wrap="square">
            <a:noAutofit/>
          </a:bodyPr>
          <a:p>
            <a:pPr marL="0" indent="0" fontAlgn="auto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zh-CN" altLang="en-US" sz="1600" b="1" i="0">
                <a:solidFill>
                  <a:srgbClr val="0F1115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第一步：正确认识</a:t>
            </a:r>
            <a:r>
              <a:rPr lang="en-US" altLang="zh-CN" sz="1600" b="1" i="0">
                <a:solidFill>
                  <a:srgbClr val="0F1115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Python</a:t>
            </a:r>
            <a:r>
              <a:rPr lang="zh-CN" altLang="en-US" sz="1600" b="1" i="0">
                <a:solidFill>
                  <a:srgbClr val="0F1115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学习</a:t>
            </a:r>
            <a:endParaRPr lang="zh-CN" altLang="en-US" sz="1600" b="1" i="0">
              <a:solidFill>
                <a:srgbClr val="0F1115"/>
              </a:solidFill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indent="0" fontAlgn="auto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zh-CN" altLang="en-US" sz="1600" i="0">
                <a:solidFill>
                  <a:srgbClr val="0F1115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编程如同学习一门新语言，核心在于理解其逻辑与规则。在学习过程中，报错信息不是你的敌人，而是最好的老师。你将花大量时间与红色报错信息打交道</a:t>
            </a:r>
            <a:r>
              <a:rPr lang="en-US" altLang="zh-CN" sz="1600" i="0">
                <a:solidFill>
                  <a:srgbClr val="0F1115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——</a:t>
            </a:r>
            <a:r>
              <a:rPr lang="zh-CN" altLang="en-US" sz="1600" i="0">
                <a:solidFill>
                  <a:srgbClr val="0F1115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这完全正常。每一次解决错误，都是一次能力的跃升。学会阅读并理解报错信息，是编程核心能力。善用论坛和</a:t>
            </a:r>
            <a:r>
              <a:rPr lang="en-US" altLang="zh-CN" sz="1600" i="0">
                <a:solidFill>
                  <a:srgbClr val="0F1115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AI</a:t>
            </a:r>
            <a:r>
              <a:rPr lang="zh-CN" altLang="en-US" sz="1600" i="0">
                <a:solidFill>
                  <a:srgbClr val="0F1115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工具，它们是你强大的学习助手。</a:t>
            </a:r>
            <a:endParaRPr lang="zh-CN" altLang="en-US" sz="1600" i="0">
              <a:solidFill>
                <a:srgbClr val="0F1115"/>
              </a:solidFill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marL="0" indent="0" fontAlgn="auto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zh-CN" altLang="en-US" sz="1600" b="1">
                <a:solidFill>
                  <a:srgbClr val="0F1115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第二步：打好通用基础</a:t>
            </a:r>
            <a:endParaRPr lang="zh-CN" altLang="en-US" sz="1600" b="1" i="0">
              <a:solidFill>
                <a:srgbClr val="0F1115"/>
              </a:solidFill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indent="0" fontAlgn="auto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zh-CN" altLang="en-US" sz="1600" i="0">
                <a:solidFill>
                  <a:srgbClr val="0F1115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这个阶段的目标是掌握Python的基础语法和编程逻辑，就像学习语言时要先掌握基本句型和词汇。重点理解变量、数据类型、循环、函数等通用概念，为后续应用打下坚实基础。“功能强大”的秘诀：丰富的第三方库</a:t>
            </a:r>
            <a:endParaRPr lang="zh-CN" altLang="en-US" sz="1600" i="0">
              <a:solidFill>
                <a:srgbClr val="0F1115"/>
              </a:solidFill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marL="0" lvl="1" indent="0" fontAlgn="auto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zh-CN" altLang="en-US" sz="1600" b="1">
                <a:solidFill>
                  <a:srgbClr val="0F1115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第三步：在实战中升华能力——从“会读代码”到“解决问题”</a:t>
            </a:r>
            <a:endParaRPr lang="zh-CN" altLang="en-US" sz="1600" b="1">
              <a:solidFill>
                <a:srgbClr val="0F1115"/>
              </a:solidFill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  <a:sym typeface="+mn-ea"/>
            </a:endParaRPr>
          </a:p>
          <a:p>
            <a:pPr marL="0" lvl="1" indent="0" fontAlgn="auto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zh-CN" altLang="en-US" sz="1400" i="0">
                <a:solidFill>
                  <a:srgbClr val="0F1115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编程不是闭卷考试，而是一场可以随时查阅资料的</a:t>
            </a:r>
            <a:r>
              <a:rPr lang="en-US" altLang="zh-CN" sz="1400" i="0">
                <a:solidFill>
                  <a:srgbClr val="0F1115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“</a:t>
            </a:r>
            <a:r>
              <a:rPr lang="zh-CN" altLang="en-US" sz="1400" i="0">
                <a:solidFill>
                  <a:srgbClr val="0F1115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开卷实践</a:t>
            </a:r>
            <a:r>
              <a:rPr lang="en-US" altLang="zh-CN" sz="1400" i="0">
                <a:solidFill>
                  <a:srgbClr val="0F1115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”</a:t>
            </a:r>
            <a:r>
              <a:rPr lang="zh-CN" altLang="en-US" sz="1400" i="0">
                <a:solidFill>
                  <a:srgbClr val="0F1115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，无需死记硬背所有函数。</a:t>
            </a:r>
            <a:endParaRPr lang="zh-CN" altLang="en-US" sz="1400" i="0">
              <a:solidFill>
                <a:srgbClr val="0F1115"/>
              </a:solidFill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marL="0" lvl="1" indent="0" fontAlgn="auto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zh-CN" altLang="en-US" sz="1400" i="0">
                <a:solidFill>
                  <a:srgbClr val="0F1115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站在巨人的肩膀上，而非</a:t>
            </a:r>
            <a:r>
              <a:rPr lang="en-US" altLang="zh-CN" sz="1400" i="0">
                <a:solidFill>
                  <a:srgbClr val="0F1115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“</a:t>
            </a:r>
            <a:r>
              <a:rPr lang="zh-CN" altLang="en-US" sz="1400" i="0">
                <a:solidFill>
                  <a:srgbClr val="0F1115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重复造轮子</a:t>
            </a:r>
            <a:r>
              <a:rPr lang="en-US" altLang="zh-CN" sz="1400" i="0">
                <a:solidFill>
                  <a:srgbClr val="0F1115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”</a:t>
            </a:r>
            <a:endParaRPr lang="en-US" altLang="zh-CN" sz="1400" i="0">
              <a:solidFill>
                <a:srgbClr val="0F1115"/>
              </a:solidFill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marL="0" lvl="1" indent="0" fontAlgn="auto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zh-CN" altLang="en-US" sz="1400" i="0">
                <a:solidFill>
                  <a:srgbClr val="0F1115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积极利用</a:t>
            </a:r>
            <a:r>
              <a:rPr lang="en-US" altLang="zh-CN" sz="1400" i="0">
                <a:solidFill>
                  <a:srgbClr val="0F1115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GitHub</a:t>
            </a:r>
            <a:r>
              <a:rPr lang="zh-CN" altLang="en-US" sz="1400" i="0">
                <a:solidFill>
                  <a:srgbClr val="0F1115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等平台，寻找你所在领域（如单细胞转录组分析）的成熟项目代码。</a:t>
            </a:r>
            <a:endParaRPr lang="zh-CN" altLang="en-US" sz="1400" i="0">
              <a:solidFill>
                <a:srgbClr val="0F1115"/>
              </a:solidFill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marL="0" lvl="1" indent="0" fontAlgn="auto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zh-CN" altLang="en-US" sz="1400" i="0">
                <a:solidFill>
                  <a:srgbClr val="0F1115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通过阅读、理解和复现这些优质代码，你能快速学习解决问题的逻辑、流程与最佳实践。</a:t>
            </a:r>
            <a:endParaRPr lang="zh-CN" altLang="en-US" sz="1400" i="0">
              <a:solidFill>
                <a:srgbClr val="0F1115"/>
              </a:solidFill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marL="0" lvl="1" indent="0" fontAlgn="auto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zh-CN" altLang="en-US" sz="1400" i="0">
                <a:solidFill>
                  <a:srgbClr val="0F1115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学习的最终目标不是背诵，而是培养</a:t>
            </a:r>
            <a:r>
              <a:rPr lang="en-US" altLang="zh-CN" sz="1400" i="0">
                <a:solidFill>
                  <a:srgbClr val="0F1115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“</a:t>
            </a:r>
            <a:r>
              <a:rPr lang="zh-CN" altLang="en-US" sz="1400" i="0">
                <a:solidFill>
                  <a:srgbClr val="0F1115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遇到问题，知道如何寻找解决方案</a:t>
            </a:r>
            <a:r>
              <a:rPr lang="en-US" altLang="zh-CN" sz="1400" i="0">
                <a:solidFill>
                  <a:srgbClr val="0F1115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”</a:t>
            </a:r>
            <a:r>
              <a:rPr lang="zh-CN" altLang="en-US" sz="1400" i="0">
                <a:solidFill>
                  <a:srgbClr val="0F1115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的能力。这包括高效使用搜索引擎、官方文档、技术论坛和</a:t>
            </a:r>
            <a:r>
              <a:rPr lang="en-US" altLang="zh-CN" sz="1400" i="0">
                <a:solidFill>
                  <a:srgbClr val="0F1115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AI</a:t>
            </a:r>
            <a:r>
              <a:rPr lang="zh-CN" altLang="en-US" sz="1400" i="0">
                <a:solidFill>
                  <a:srgbClr val="0F1115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助手。</a:t>
            </a:r>
            <a:endParaRPr lang="zh-CN" altLang="en-US" sz="1400" i="0">
              <a:solidFill>
                <a:srgbClr val="0F1115"/>
              </a:solidFill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73380" y="843280"/>
            <a:ext cx="7825105" cy="3797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>
              <a:lnSpc>
                <a:spcPts val="2250"/>
              </a:lnSpc>
              <a:spcBef>
                <a:spcPts val="2400"/>
              </a:spcBef>
              <a:spcAft>
                <a:spcPts val="1200"/>
              </a:spcAft>
            </a:pPr>
            <a:r>
              <a:rPr lang="zh-CN" altLang="en-US" sz="2000" b="1">
                <a:solidFill>
                  <a:srgbClr val="0F1115"/>
                </a:solidFill>
                <a:latin typeface="quote-cjk-patch"/>
                <a:ea typeface="quote-cjk-patch"/>
                <a:sym typeface="+mn-ea"/>
              </a:rPr>
              <a:t>三、 </a:t>
            </a:r>
            <a:r>
              <a:rPr lang="en-US" altLang="zh-CN" sz="2000" b="1">
                <a:solidFill>
                  <a:srgbClr val="0F1115"/>
                </a:solidFill>
                <a:latin typeface="quote-cjk-patch"/>
                <a:ea typeface="quote-cjk-patch"/>
                <a:sym typeface="+mn-ea"/>
              </a:rPr>
              <a:t>Python</a:t>
            </a:r>
            <a:r>
              <a:rPr lang="zh-CN" altLang="en-US" sz="2000" b="1">
                <a:solidFill>
                  <a:srgbClr val="0F1115"/>
                </a:solidFill>
                <a:latin typeface="quote-cjk-patch"/>
                <a:ea typeface="quote-cjk-patch"/>
                <a:sym typeface="+mn-ea"/>
              </a:rPr>
              <a:t>学习的过程</a:t>
            </a:r>
            <a:endParaRPr lang="zh-CN" altLang="en-US" sz="2000" b="1">
              <a:solidFill>
                <a:srgbClr val="0F1115"/>
              </a:solidFill>
              <a:latin typeface="quote-cjk-patch"/>
              <a:ea typeface="quote-cjk-patch"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7899400" y="1704975"/>
            <a:ext cx="3165475" cy="30289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latinLnBrk="1">
              <a:lnSpc>
                <a:spcPts val="1650"/>
              </a:lnSpc>
              <a:spcBef>
                <a:spcPct val="0"/>
              </a:spcBef>
              <a:spcAft>
                <a:spcPct val="0"/>
              </a:spcAft>
            </a:pPr>
            <a:endParaRPr lang="en-US" altLang="zh-CN" sz="1600" b="0">
              <a:solidFill>
                <a:srgbClr val="383A42"/>
              </a:solidFill>
              <a:latin typeface="Menlo"/>
              <a:ea typeface="Menl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灯片编号占位符 3"/>
          <p:cNvSpPr txBox="1"/>
          <p:nvPr/>
        </p:nvSpPr>
        <p:spPr>
          <a:xfrm>
            <a:off x="9016995" y="635635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A281AEB-07EC-42BD-BA3B-0262F1DD417E}" type="slidenum">
              <a:rPr lang="zh-CN" altLang="en-US" smtClean="0"/>
            </a:fld>
            <a:endParaRPr lang="zh-CN" altLang="en-US" dirty="0"/>
          </a:p>
        </p:txBody>
      </p:sp>
      <p:sp>
        <p:nvSpPr>
          <p:cNvPr id="2" name="文本框 1"/>
          <p:cNvSpPr txBox="1"/>
          <p:nvPr/>
        </p:nvSpPr>
        <p:spPr>
          <a:xfrm>
            <a:off x="2049780" y="2167255"/>
            <a:ext cx="7825105" cy="18802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>
              <a:lnSpc>
                <a:spcPts val="2250"/>
              </a:lnSpc>
              <a:spcBef>
                <a:spcPts val="2400"/>
              </a:spcBef>
              <a:spcAft>
                <a:spcPts val="1200"/>
              </a:spcAft>
            </a:pPr>
            <a:r>
              <a:rPr lang="zh-CN" altLang="en-US" sz="2000" b="1">
                <a:solidFill>
                  <a:srgbClr val="0F1115"/>
                </a:solidFill>
                <a:latin typeface="quote-cjk-patch"/>
                <a:ea typeface="宋体" panose="02010600030101010101" pitchFamily="2" charset="-122"/>
                <a:sym typeface="+mn-ea"/>
              </a:rPr>
              <a:t>让我们就此出发吧，共同踏入学习</a:t>
            </a:r>
            <a:r>
              <a:rPr lang="en-US" altLang="zh-CN" sz="2000" b="1">
                <a:solidFill>
                  <a:srgbClr val="0F1115"/>
                </a:solidFill>
                <a:latin typeface="quote-cjk-patch"/>
                <a:ea typeface="宋体" panose="02010600030101010101" pitchFamily="2" charset="-122"/>
                <a:sym typeface="+mn-ea"/>
              </a:rPr>
              <a:t>Python</a:t>
            </a:r>
            <a:r>
              <a:rPr lang="zh-CN" altLang="en-US" sz="2000" b="1">
                <a:solidFill>
                  <a:srgbClr val="0F1115"/>
                </a:solidFill>
                <a:latin typeface="quote-cjk-patch"/>
                <a:ea typeface="宋体" panose="02010600030101010101" pitchFamily="2" charset="-122"/>
                <a:sym typeface="+mn-ea"/>
              </a:rPr>
              <a:t>这段旅程。</a:t>
            </a:r>
            <a:endParaRPr lang="en-US" altLang="zh-CN" sz="2000" b="1">
              <a:solidFill>
                <a:srgbClr val="0F1115"/>
              </a:solidFill>
              <a:latin typeface="quote-cjk-patch"/>
              <a:ea typeface="宋体" panose="02010600030101010101" pitchFamily="2" charset="-122"/>
              <a:sym typeface="+mn-ea"/>
            </a:endParaRPr>
          </a:p>
          <a:p>
            <a:pPr marL="0" indent="0">
              <a:lnSpc>
                <a:spcPts val="2250"/>
              </a:lnSpc>
              <a:spcBef>
                <a:spcPts val="2400"/>
              </a:spcBef>
              <a:spcAft>
                <a:spcPts val="1200"/>
              </a:spcAft>
            </a:pPr>
            <a:r>
              <a:rPr lang="zh-CN" altLang="en-US" sz="2000" b="1">
                <a:solidFill>
                  <a:srgbClr val="0F1115"/>
                </a:solidFill>
                <a:latin typeface="quote-cjk-patch"/>
                <a:ea typeface="宋体" panose="02010600030101010101" pitchFamily="2" charset="-122"/>
                <a:sym typeface="+mn-ea"/>
              </a:rPr>
              <a:t>当你走过这段路程蓦然回首时，你会惊觉：</a:t>
            </a:r>
            <a:endParaRPr lang="zh-CN" altLang="en-US" sz="2000" b="1">
              <a:solidFill>
                <a:srgbClr val="0F1115"/>
              </a:solidFill>
              <a:latin typeface="quote-cjk-patch"/>
              <a:ea typeface="宋体" panose="02010600030101010101" pitchFamily="2" charset="-122"/>
              <a:sym typeface="+mn-ea"/>
            </a:endParaRPr>
          </a:p>
          <a:p>
            <a:pPr marL="0" indent="0">
              <a:lnSpc>
                <a:spcPts val="2250"/>
              </a:lnSpc>
              <a:spcBef>
                <a:spcPts val="2400"/>
              </a:spcBef>
              <a:spcAft>
                <a:spcPts val="1200"/>
              </a:spcAft>
            </a:pPr>
            <a:r>
              <a:rPr lang="zh-CN" altLang="en-US" sz="2000" b="1">
                <a:solidFill>
                  <a:srgbClr val="0F1115"/>
                </a:solidFill>
                <a:latin typeface="quote-cjk-patch"/>
                <a:ea typeface="宋体" panose="02010600030101010101" pitchFamily="2" charset="-122"/>
                <a:sym typeface="+mn-ea"/>
              </a:rPr>
              <a:t>你学会的不只是一种工具，而是一种提问和看待世界的新方式。</a:t>
            </a:r>
            <a:endParaRPr lang="zh-CN" altLang="en-US" sz="2000" b="1">
              <a:solidFill>
                <a:srgbClr val="0F1115"/>
              </a:solidFill>
              <a:latin typeface="quote-cjk-patch"/>
              <a:ea typeface="宋体" panose="02010600030101010101" pitchFamily="2" charset="-122"/>
              <a:sym typeface="+mn-e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5877" y="342900"/>
            <a:ext cx="1050372" cy="419793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520696"/>
            <a:ext cx="12192000" cy="1816608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54328" y="5482378"/>
            <a:ext cx="8852159" cy="81693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1_Office 主题​​">
  <a:themeElements>
    <a:clrScheme name="黄绿色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3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1339</Words>
  <Application>WPS 演示</Application>
  <PresentationFormat>宽屏</PresentationFormat>
  <Paragraphs>52</Paragraphs>
  <Slides>7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7</vt:i4>
      </vt:variant>
    </vt:vector>
  </HeadingPairs>
  <TitlesOfParts>
    <vt:vector size="22" baseType="lpstr">
      <vt:lpstr>Arial</vt:lpstr>
      <vt:lpstr>宋体</vt:lpstr>
      <vt:lpstr>Wingdings</vt:lpstr>
      <vt:lpstr>微软雅黑</vt:lpstr>
      <vt:lpstr>Times New Roman Regular</vt:lpstr>
      <vt:lpstr>Times New Roman</vt:lpstr>
      <vt:lpstr>quote-cjk-patch</vt:lpstr>
      <vt:lpstr>Segoe Print</vt:lpstr>
      <vt:lpstr>Arial</vt:lpstr>
      <vt:lpstr>Menlo</vt:lpstr>
      <vt:lpstr>Arial Unicode MS</vt:lpstr>
      <vt:lpstr>等线 Light</vt:lpstr>
      <vt:lpstr>等线</vt:lpstr>
      <vt:lpstr>1_Office 主题​​</vt:lpstr>
      <vt:lpstr>3_Office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曾袁(Yuan Zeng)</dc:creator>
  <cp:lastModifiedBy>何昆</cp:lastModifiedBy>
  <cp:revision>1500</cp:revision>
  <dcterms:created xsi:type="dcterms:W3CDTF">2019-04-02T01:35:00Z</dcterms:created>
  <dcterms:modified xsi:type="dcterms:W3CDTF">2025-10-20T08:51:13Z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0x01010073BDBA23D5921B41B6F9E6D498E6C1A0</vt:lpwstr>
  </property>
  <property fmtid="{D5CDD505-2E9C-101B-9397-08002B2CF9AE}" pid="3" name="ICV">
    <vt:lpwstr>FF907F85873F4464A421FB9E2BA7B35E</vt:lpwstr>
  </property>
  <property fmtid="{D5CDD505-2E9C-101B-9397-08002B2CF9AE}" pid="4" name="KSOProductBuildVer">
    <vt:lpwstr>2052-12.1.0.20784</vt:lpwstr>
  </property>
</Properties>
</file>